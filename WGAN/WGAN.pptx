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/>
                <a:sym typeface="Bebas Neue Bold"/>
              </a:rPr>
              <a:t>GAN и </a:t>
            </a:r>
            <a:br>
              <a:rPr lang="vi-VN" sz="3600" dirty="0">
                <a:latin typeface="Times New Roman"/>
                <a:sym typeface="Bebas Neue Bold"/>
              </a:rPr>
            </a:br>
            <a:r>
              <a:rPr lang="ru-RU" sz="3600" dirty="0">
                <a:latin typeface="Times New Roman"/>
                <a:sym typeface="Bebas Neue Bold"/>
              </a:rPr>
              <a:t>их модификация </a:t>
            </a:r>
            <a:r>
              <a:rPr lang="ru-RU" sz="3600" dirty="0" err="1">
                <a:latin typeface="Times New Roman"/>
                <a:sym typeface="Bebas Neue Bold"/>
              </a:rPr>
              <a:t>Wasserstein</a:t>
            </a:r>
            <a:r>
              <a:rPr lang="ru-RU" sz="3600" dirty="0">
                <a:latin typeface="Times New Roman"/>
                <a:sym typeface="Bebas Neue Bold"/>
              </a:rPr>
              <a:t> GAN</a:t>
            </a:r>
            <a:br>
              <a:rPr lang="en-US" sz="3600" b="1" dirty="0">
                <a:solidFill>
                  <a:srgbClr val="00B3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</a:br>
            <a:endParaRPr sz="3600" dirty="0">
              <a:latin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1800" dirty="0">
                <a:latin typeface="Times New Roman"/>
              </a:rPr>
              <a:t>Студент</a:t>
            </a:r>
            <a:r>
              <a:rPr sz="1800" dirty="0">
                <a:latin typeface="Times New Roman"/>
              </a:rPr>
              <a:t>: </a:t>
            </a:r>
            <a:r>
              <a:rPr lang="ru-RU" sz="1800" dirty="0" err="1">
                <a:latin typeface="Times New Roman"/>
              </a:rPr>
              <a:t>Чинь</a:t>
            </a:r>
            <a:r>
              <a:rPr lang="ru-RU" sz="1800" dirty="0">
                <a:latin typeface="Times New Roman"/>
              </a:rPr>
              <a:t> Тхи </a:t>
            </a:r>
            <a:r>
              <a:rPr lang="ru-RU" sz="1800" dirty="0" err="1">
                <a:latin typeface="Times New Roman"/>
              </a:rPr>
              <a:t>Тху</a:t>
            </a:r>
            <a:r>
              <a:rPr lang="ru-RU" sz="1800" dirty="0">
                <a:latin typeface="Times New Roman"/>
              </a:rPr>
              <a:t> </a:t>
            </a:r>
            <a:r>
              <a:rPr lang="ru-RU" sz="1800" dirty="0" err="1">
                <a:latin typeface="Times New Roman"/>
              </a:rPr>
              <a:t>Хоай</a:t>
            </a:r>
            <a:endParaRPr lang="ru-RU" sz="1800" dirty="0">
              <a:latin typeface="Times New Roman"/>
            </a:endParaRPr>
          </a:p>
          <a:p>
            <a:pPr algn="l"/>
            <a:r>
              <a:rPr lang="ru-RU" sz="1800" dirty="0">
                <a:latin typeface="Times New Roman"/>
              </a:rPr>
              <a:t>		</a:t>
            </a:r>
            <a:r>
              <a:rPr lang="ru-RU" sz="1800" dirty="0" err="1">
                <a:latin typeface="Times New Roman"/>
              </a:rPr>
              <a:t>Зайдиев</a:t>
            </a:r>
            <a:r>
              <a:rPr lang="ru-RU" sz="1800" dirty="0">
                <a:latin typeface="Times New Roman"/>
              </a:rPr>
              <a:t> Артур </a:t>
            </a:r>
            <a:r>
              <a:rPr lang="ru-RU" sz="1800" dirty="0" err="1">
                <a:latin typeface="Times New Roman"/>
              </a:rPr>
              <a:t>Ильгизович</a:t>
            </a:r>
            <a:endParaRPr lang="ru-RU" sz="1800" dirty="0">
              <a:latin typeface="Times New Roman"/>
            </a:endParaRPr>
          </a:p>
          <a:p>
            <a:pPr algn="l"/>
            <a:r>
              <a:rPr lang="ru-RU" sz="1800" dirty="0">
                <a:latin typeface="Times New Roman"/>
              </a:rPr>
              <a:t>Группа: 5030102/20202</a:t>
            </a:r>
            <a:endParaRPr sz="1800" dirty="0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/>
              <a:t>Введение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dirty="0"/>
              <a:t>GAN (Generative Adversarial Network) </a:t>
            </a:r>
            <a:r>
              <a:rPr lang="ru-RU" dirty="0"/>
              <a:t>один из прорывов в искусственном интеллекте для генерации синтетических данных.</a:t>
            </a:r>
            <a:endParaRPr lang="vi-VN" dirty="0"/>
          </a:p>
          <a:p>
            <a:pPr>
              <a:defRPr sz="1800">
                <a:latin typeface="Times New Roman"/>
              </a:defRPr>
            </a:pPr>
            <a:endParaRPr lang="vi-VN" dirty="0"/>
          </a:p>
          <a:p>
            <a:pPr>
              <a:defRPr sz="1800">
                <a:latin typeface="Times New Roman"/>
              </a:defRPr>
            </a:pPr>
            <a:r>
              <a:rPr lang="ru-RU" dirty="0"/>
              <a:t>Состоит из двух нейросетей: генератора (G) и дискриминатора (D).</a:t>
            </a:r>
            <a:endParaRPr lang="vi-VN" dirty="0"/>
          </a:p>
          <a:p>
            <a:pPr lvl="1">
              <a:buFont typeface="Times New Roman" panose="02020603050405020304" pitchFamily="18" charset="0"/>
              <a:buChar char="‾"/>
              <a:defRPr sz="1800">
                <a:latin typeface="Times New Roman"/>
              </a:defRPr>
            </a:pPr>
            <a:r>
              <a:rPr lang="ru-RU" dirty="0"/>
              <a:t>G создаёт данные, D пытается отличить их от реальных.</a:t>
            </a:r>
            <a:endParaRPr lang="vi-VN" dirty="0"/>
          </a:p>
          <a:p>
            <a:pPr lvl="1">
              <a:buFont typeface="Times New Roman" panose="02020603050405020304" pitchFamily="18" charset="0"/>
              <a:buChar char="‾"/>
              <a:defRPr sz="1800">
                <a:latin typeface="Times New Roman"/>
              </a:defRPr>
            </a:pPr>
            <a:r>
              <a:rPr lang="ru-RU" dirty="0"/>
              <a:t>Обучение идёт в состязательном режиме: G улучшает свои подделки, D учится их распознавать.</a:t>
            </a:r>
            <a:endParaRPr lang="vi-VN" dirty="0"/>
          </a:p>
          <a:p>
            <a:pPr lvl="1">
              <a:buFont typeface="Times New Roman" panose="02020603050405020304" pitchFamily="18" charset="0"/>
              <a:buChar char="‾"/>
              <a:defRPr sz="1800">
                <a:latin typeface="Times New Roman"/>
              </a:defRPr>
            </a:pPr>
            <a:endParaRPr lang="vi-VN" dirty="0"/>
          </a:p>
          <a:p>
            <a:pPr>
              <a:defRPr sz="1800">
                <a:latin typeface="Times New Roman"/>
              </a:defRPr>
            </a:pPr>
            <a:r>
              <a:rPr lang="ru-RU" dirty="0"/>
              <a:t>Применение: изображения, видео, синтетические медицинские данные, обучение, искусство.</a:t>
            </a:r>
          </a:p>
          <a:p>
            <a:pPr>
              <a:defRPr sz="1800">
                <a:latin typeface="Times New Roman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/>
              <a:t>Идея</a:t>
            </a:r>
            <a:r>
              <a:rPr sz="3600" dirty="0"/>
              <a:t> GAN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defRPr sz="1800">
                    <a:latin typeface="Times New Roman"/>
                  </a:defRPr>
                </a:pPr>
                <a:r>
                  <a:rPr lang="ru-RU" dirty="0"/>
                  <a:t>Генератор (G) получает случайный вектор z (шум), например размерностью 100, и генерирует изображение G(z).</a:t>
                </a:r>
                <a:endParaRPr lang="vi-VN" dirty="0"/>
              </a:p>
              <a:p>
                <a:pPr>
                  <a:defRPr sz="1800">
                    <a:latin typeface="Times New Roman"/>
                  </a:defRPr>
                </a:pPr>
                <a:r>
                  <a:rPr lang="ru-RU" dirty="0"/>
                  <a:t>Дискриминатор (D) принимает изображение и возвращает вероятность того, что оно настоящее: D(x) ∈ [0,1].</a:t>
                </a:r>
                <a:endParaRPr lang="vi-VN" dirty="0"/>
              </a:p>
              <a:p>
                <a:pPr>
                  <a:defRPr sz="1800">
                    <a:latin typeface="Times New Roman"/>
                  </a:defRPr>
                </a:pPr>
                <a:r>
                  <a:rPr lang="ru-RU" dirty="0"/>
                  <a:t>Состязание:</a:t>
                </a:r>
                <a:endParaRPr lang="vi-VN" dirty="0"/>
              </a:p>
              <a:p>
                <a:pPr lvl="1">
                  <a:buFont typeface="Times New Roman" panose="02020603050405020304" pitchFamily="18" charset="0"/>
                  <a:buChar char="‾"/>
                  <a:defRPr sz="1800">
                    <a:latin typeface="Times New Roman"/>
                  </a:defRPr>
                </a:pPr>
                <a:r>
                  <a:rPr lang="ru-RU" dirty="0"/>
                  <a:t>G хочет, чтобы D ошибался</a:t>
                </a:r>
                <a:r>
                  <a:rPr lang="vi-VN" dirty="0"/>
                  <a:t> -&gt;</a:t>
                </a:r>
                <a:r>
                  <a:rPr lang="ru-RU" dirty="0"/>
                  <a:t> минимизирует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endParaRPr lang="ru-RU" dirty="0"/>
              </a:p>
              <a:p>
                <a:pPr lvl="1">
                  <a:buFont typeface="Times New Roman" panose="02020603050405020304" pitchFamily="18" charset="0"/>
                  <a:buChar char="‾"/>
                  <a:defRPr sz="1800">
                    <a:latin typeface="Times New Roman"/>
                  </a:defRPr>
                </a:pPr>
                <a:r>
                  <a:rPr lang="ru-RU" dirty="0"/>
                  <a:t>D хочет различать реальные и синтетические данные </a:t>
                </a:r>
                <a:r>
                  <a:rPr lang="vi-VN" dirty="0"/>
                  <a:t>-&gt;</a:t>
                </a:r>
                <a:r>
                  <a:rPr lang="ru-RU" dirty="0"/>
                  <a:t> максимизирует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endParaRPr lang="vi-VN" dirty="0"/>
              </a:p>
              <a:p>
                <a:pPr>
                  <a:defRPr sz="1800">
                    <a:latin typeface="Times New Roman"/>
                  </a:defRPr>
                </a:pPr>
                <a:r>
                  <a:rPr lang="ru-RU" dirty="0"/>
                  <a:t>Аналогия:</a:t>
                </a:r>
                <a:r>
                  <a:rPr lang="vi-VN" dirty="0"/>
                  <a:t> </a:t>
                </a:r>
                <a:r>
                  <a:rPr lang="ru-RU" dirty="0"/>
                  <a:t>Как соревнование художника (G), который подделывает картины, и эксперта (D), который их проверяет.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809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/>
              <a:t>Архитектура</a:t>
            </a:r>
            <a:r>
              <a:rPr sz="3600" dirty="0"/>
              <a:t> 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Вход: случайный вектор z ~ </a:t>
            </a:r>
            <a:r>
              <a:rPr lang="ru-RU" sz="1800" dirty="0" err="1"/>
              <a:t>p_z</a:t>
            </a:r>
            <a:r>
              <a:rPr lang="ru-RU" sz="1800" dirty="0"/>
              <a:t>(z)</a:t>
            </a:r>
            <a:endParaRPr lang="vi-VN" sz="1800" dirty="0"/>
          </a:p>
          <a:p>
            <a:r>
              <a:rPr lang="ru-RU" sz="1800" dirty="0"/>
              <a:t>Генератор: </a:t>
            </a:r>
            <a:r>
              <a:rPr lang="en-US" sz="1800" dirty="0"/>
              <a:t>Dense → Reshape → Conv2DTranspose → </a:t>
            </a:r>
            <a:r>
              <a:rPr lang="en-US" sz="1800" dirty="0" err="1"/>
              <a:t>BatchNorm</a:t>
            </a:r>
            <a:r>
              <a:rPr lang="en-US" sz="1800" dirty="0"/>
              <a:t> → </a:t>
            </a:r>
            <a:r>
              <a:rPr lang="en-US" sz="1800" dirty="0" err="1"/>
              <a:t>LeakyReLU</a:t>
            </a:r>
            <a:r>
              <a:rPr lang="en-US" sz="1800" dirty="0"/>
              <a:t> → Output (128×128×3)</a:t>
            </a:r>
            <a:endParaRPr lang="vi-VN" sz="1800" dirty="0"/>
          </a:p>
          <a:p>
            <a:r>
              <a:rPr lang="ru-RU" sz="1800" dirty="0"/>
              <a:t>Дискриминатор: </a:t>
            </a:r>
            <a:r>
              <a:rPr lang="en-US" sz="1800" dirty="0"/>
              <a:t>Conv2D → </a:t>
            </a:r>
            <a:r>
              <a:rPr lang="en-US" sz="1800" dirty="0" err="1"/>
              <a:t>BatchNorm</a:t>
            </a:r>
            <a:r>
              <a:rPr lang="en-US" sz="1800" dirty="0"/>
              <a:t> → </a:t>
            </a:r>
            <a:r>
              <a:rPr lang="en-US" sz="1800" dirty="0" err="1"/>
              <a:t>LeakyReLU</a:t>
            </a:r>
            <a:r>
              <a:rPr lang="en-US" sz="1800" dirty="0"/>
              <a:t> → Flatten → Dense(1, Sigmoid)</a:t>
            </a:r>
            <a:endParaRPr lang="vi-VN" sz="1800" dirty="0"/>
          </a:p>
          <a:p>
            <a:r>
              <a:rPr lang="ru-RU" sz="1800" dirty="0"/>
              <a:t>Выход: D(x) ∈ [0,1] для каждого изображения x</a:t>
            </a:r>
            <a:endParaRPr lang="vi-VN" sz="1800" dirty="0"/>
          </a:p>
          <a:p>
            <a:r>
              <a:rPr lang="ru-RU" sz="1800" dirty="0"/>
              <a:t>Схема:</a:t>
            </a:r>
            <a:endParaRPr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9C9E59-EEF8-A187-86FC-473752F10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60" y="3684415"/>
            <a:ext cx="4337625" cy="25449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latin typeface="Times New Roman"/>
              </a:rPr>
              <a:t>Математическая</a:t>
            </a:r>
            <a:r>
              <a:rPr sz="3600" dirty="0">
                <a:latin typeface="Times New Roman"/>
              </a:rPr>
              <a:t> </a:t>
            </a:r>
            <a:r>
              <a:rPr sz="3600" dirty="0" err="1">
                <a:latin typeface="Times New Roman"/>
              </a:rPr>
              <a:t>модель</a:t>
            </a:r>
            <a:r>
              <a:rPr sz="3600" dirty="0">
                <a:latin typeface="Times New Roman"/>
              </a:rPr>
              <a:t> GAN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69C0B-F0E9-9AAE-1162-E4112A6BF539}"/>
              </a:ext>
            </a:extLst>
          </p:cNvPr>
          <p:cNvSpPr txBox="1"/>
          <p:nvPr/>
        </p:nvSpPr>
        <p:spPr>
          <a:xfrm>
            <a:off x="807102" y="3949867"/>
            <a:ext cx="77819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 </a:t>
            </a:r>
            <a:r>
              <a:rPr lang="en-US" dirty="0" err="1"/>
              <a:t>стремится</a:t>
            </a:r>
            <a:r>
              <a:rPr lang="en-US" dirty="0"/>
              <a:t> </a:t>
            </a:r>
            <a:r>
              <a:rPr lang="en-US" dirty="0" err="1"/>
              <a:t>максимизировать</a:t>
            </a:r>
            <a:r>
              <a:rPr lang="en-US" dirty="0"/>
              <a:t> V(D,G): </a:t>
            </a:r>
            <a:r>
              <a:rPr lang="en-US" dirty="0" err="1"/>
              <a:t>отличать</a:t>
            </a:r>
            <a:r>
              <a:rPr lang="en-US" dirty="0"/>
              <a:t> </a:t>
            </a:r>
            <a:r>
              <a:rPr lang="en-US" dirty="0" err="1"/>
              <a:t>настоящие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подделок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 </a:t>
            </a:r>
            <a:r>
              <a:rPr lang="en-US" dirty="0" err="1"/>
              <a:t>стремится</a:t>
            </a:r>
            <a:r>
              <a:rPr lang="en-US" dirty="0"/>
              <a:t> </a:t>
            </a:r>
            <a:r>
              <a:rPr lang="en-US" dirty="0" err="1"/>
              <a:t>минимизировать</a:t>
            </a:r>
            <a:r>
              <a:rPr lang="en-US" dirty="0"/>
              <a:t> V(D,G):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реалистичные</a:t>
            </a:r>
            <a:r>
              <a:rPr lang="en-US" dirty="0"/>
              <a:t> </a:t>
            </a:r>
            <a:r>
              <a:rPr lang="en-US" dirty="0" err="1"/>
              <a:t>подделки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C02816-71E5-B6C6-2B57-D44158188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17" y="1755605"/>
            <a:ext cx="7277659" cy="6931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FE7A5B-6FD4-B3B2-4A86-3163CA05605C}"/>
                  </a:ext>
                </a:extLst>
              </p:cNvPr>
              <p:cNvSpPr txBox="1"/>
              <p:nvPr/>
            </p:nvSpPr>
            <p:spPr>
              <a:xfrm>
                <a:off x="1018617" y="2448715"/>
                <a:ext cx="7096125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libri (Основной текст)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>
                            <a:latin typeface="Calibri (Основной текст)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>
                            <a:latin typeface="Calibri (Основной текст)"/>
                          </a:rPr>
                          <m:t>data</m:t>
                        </m:r>
                      </m:sub>
                    </m:sSub>
                    <m:r>
                      <a:rPr lang="vi-VN">
                        <a:latin typeface="Calibri (Основной текст)"/>
                      </a:rPr>
                      <m:t>(</m:t>
                    </m:r>
                    <m:r>
                      <m:rPr>
                        <m:sty m:val="p"/>
                      </m:rPr>
                      <a:rPr lang="vi-VN">
                        <a:latin typeface="Calibri (Основной текст)"/>
                      </a:rPr>
                      <m:t>x</m:t>
                    </m:r>
                  </m:oMath>
                </a14:m>
                <a:r>
                  <a:rPr lang="vi-VN" dirty="0">
                    <a:latin typeface="Calibri (Основной текст)"/>
                  </a:rPr>
                  <a:t>) - </a:t>
                </a:r>
                <a:r>
                  <a:rPr lang="ru-RU" dirty="0"/>
                  <a:t>истинное распределение данных</a:t>
                </a:r>
                <a:endParaRPr lang="vi-VN" dirty="0"/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mtClean="0">
                            <a:latin typeface="Calibri (Основной текст)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>
                            <a:latin typeface="Calibri (Основной текст)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>
                            <a:latin typeface="Calibri (Основной текст)"/>
                          </a:rPr>
                          <m:t>z</m:t>
                        </m:r>
                      </m:sub>
                    </m:sSub>
                    <m:r>
                      <a:rPr lang="vi-VN">
                        <a:latin typeface="Calibri (Основной текст)"/>
                      </a:rPr>
                      <m:t>(</m:t>
                    </m:r>
                    <m:r>
                      <m:rPr>
                        <m:sty m:val="p"/>
                      </m:rPr>
                      <a:rPr lang="vi-VN">
                        <a:latin typeface="Calibri (Основной текст)"/>
                      </a:rPr>
                      <m:t>z</m:t>
                    </m:r>
                  </m:oMath>
                </a14:m>
                <a:r>
                  <a:rPr lang="vi-VN" dirty="0">
                    <a:latin typeface="Calibri (Основной текст)"/>
                  </a:rPr>
                  <a:t>) - </a:t>
                </a:r>
                <a:r>
                  <a:rPr lang="ru-RU" dirty="0"/>
                  <a:t>распределение шума (обычно </a:t>
                </a:r>
                <a:r>
                  <a:rPr lang="ru-RU" dirty="0" err="1"/>
                  <a:t>Normal</a:t>
                </a:r>
                <a:r>
                  <a:rPr lang="ru-RU" dirty="0"/>
                  <a:t> или </a:t>
                </a:r>
                <a:r>
                  <a:rPr lang="ru-RU" dirty="0" err="1"/>
                  <a:t>Uniform</a:t>
                </a:r>
                <a:r>
                  <a:rPr lang="ru-RU" dirty="0"/>
                  <a:t>)</a:t>
                </a:r>
                <a:endParaRPr lang="vi-VN" dirty="0"/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vi-V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D(x) </a:t>
                </a:r>
                <a:r>
                  <a:rPr lang="vi-V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Symbol" panose="05050102010706020507" pitchFamily="18" charset="2"/>
                  </a:rPr>
                  <a:t>[0,1] -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вероятность того, что образец реальный</a:t>
                </a:r>
                <a:endParaRPr lang="vi-V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vi-V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G(z) -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сгенерированный образец</a:t>
                </a:r>
                <a:endParaRPr lang="vi-V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FE7A5B-6FD4-B3B2-4A86-3163CA056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617" y="2448715"/>
                <a:ext cx="7096125" cy="1477328"/>
              </a:xfrm>
              <a:prstGeom prst="rect">
                <a:avLst/>
              </a:prstGeom>
              <a:blipFill>
                <a:blip r:embed="rId3"/>
                <a:stretch>
                  <a:fillRect l="-601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E8E6C8A-6D05-AA65-E8D1-954D8D1F1A34}"/>
              </a:ext>
            </a:extLst>
          </p:cNvPr>
          <p:cNvSpPr txBox="1"/>
          <p:nvPr/>
        </p:nvSpPr>
        <p:spPr>
          <a:xfrm>
            <a:off x="933169" y="1214363"/>
            <a:ext cx="752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GAN </a:t>
            </a:r>
            <a:r>
              <a:rPr lang="en-US" dirty="0" err="1"/>
              <a:t>формулируется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минимакс-оптимизации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нейросетей</a:t>
            </a:r>
            <a:r>
              <a:rPr lang="en-US" dirty="0"/>
              <a:t> </a:t>
            </a:r>
            <a:r>
              <a:rPr lang="vi-VN" dirty="0"/>
              <a:t>-</a:t>
            </a:r>
            <a:r>
              <a:rPr lang="en-US" dirty="0"/>
              <a:t> </a:t>
            </a:r>
            <a:r>
              <a:rPr lang="en-US" dirty="0" err="1"/>
              <a:t>дискриминатора</a:t>
            </a:r>
            <a:r>
              <a:rPr lang="en-US" dirty="0"/>
              <a:t> D и </a:t>
            </a:r>
            <a:r>
              <a:rPr lang="en-US" dirty="0" err="1"/>
              <a:t>генератора</a:t>
            </a:r>
            <a:r>
              <a:rPr lang="en-US" dirty="0"/>
              <a:t> 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 err="1">
                <a:latin typeface="Times New Roman"/>
              </a:rPr>
              <a:t>Функции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потерь</a:t>
            </a:r>
            <a:endParaRPr sz="2800" dirty="0">
              <a:latin typeface="Times New Roman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49A368-F6CA-33E3-8372-368E500D5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165" y="1530413"/>
            <a:ext cx="4815235" cy="635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791991-CCB4-6F04-077D-DD80E3434B59}"/>
              </a:ext>
            </a:extLst>
          </p:cNvPr>
          <p:cNvSpPr txBox="1"/>
          <p:nvPr/>
        </p:nvSpPr>
        <p:spPr>
          <a:xfrm>
            <a:off x="371474" y="1232972"/>
            <a:ext cx="8401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дискриминатора</a:t>
            </a:r>
            <a:r>
              <a:rPr lang="en-US" dirty="0"/>
              <a:t>: </a:t>
            </a:r>
            <a:r>
              <a:rPr lang="en-US" dirty="0" err="1"/>
              <a:t>правильная</a:t>
            </a:r>
            <a:r>
              <a:rPr lang="en-US" dirty="0"/>
              <a:t> </a:t>
            </a:r>
            <a:r>
              <a:rPr lang="en-US" dirty="0" err="1"/>
              <a:t>классификация</a:t>
            </a:r>
            <a:r>
              <a:rPr lang="en-US" dirty="0"/>
              <a:t> </a:t>
            </a:r>
            <a:r>
              <a:rPr lang="en-US" dirty="0" err="1"/>
              <a:t>реальных</a:t>
            </a:r>
            <a:r>
              <a:rPr lang="en-US" dirty="0"/>
              <a:t> → 1, </a:t>
            </a:r>
            <a:r>
              <a:rPr lang="en-US" dirty="0" err="1"/>
              <a:t>фейковых</a:t>
            </a:r>
            <a:r>
              <a:rPr lang="en-US" dirty="0"/>
              <a:t> → 0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14D4E26-AA23-C09A-96B2-D2B85FAE6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56" y="2278468"/>
            <a:ext cx="5639587" cy="8478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1FE2C3-972B-C375-7CFA-F9B7D0CD85F1}"/>
              </a:ext>
            </a:extLst>
          </p:cNvPr>
          <p:cNvSpPr txBox="1"/>
          <p:nvPr/>
        </p:nvSpPr>
        <p:spPr>
          <a:xfrm>
            <a:off x="533399" y="3429685"/>
            <a:ext cx="7648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генератора</a:t>
            </a:r>
            <a:r>
              <a:rPr lang="en-US" dirty="0"/>
              <a:t>: D(G(z))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близок</a:t>
            </a:r>
            <a:r>
              <a:rPr lang="en-US" dirty="0"/>
              <a:t> к 1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030DD5F-9E51-ED15-F28D-AA8B2C55A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56" y="4559499"/>
            <a:ext cx="5422925" cy="4470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19249C8-E2FC-D693-23D3-50E35C612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0342" y="3867317"/>
            <a:ext cx="2456434" cy="598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/>
              <a:t>Алгоритм</a:t>
            </a:r>
            <a:r>
              <a:rPr sz="3600" dirty="0"/>
              <a:t> </a:t>
            </a:r>
            <a:r>
              <a:rPr sz="3600" dirty="0" err="1"/>
              <a:t>обучения</a:t>
            </a:r>
            <a:r>
              <a:rPr sz="3600" dirty="0"/>
              <a:t> GAN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  <a:defRPr sz="1800">
                    <a:latin typeface="Times New Roman"/>
                  </a:defRPr>
                </a:pPr>
                <a:r>
                  <a:rPr lang="ru-RU" dirty="0"/>
                  <a:t> Генератор создаёт мини-</a:t>
                </a:r>
                <a:r>
                  <a:rPr lang="ru-RU" dirty="0" err="1"/>
                  <a:t>батч</a:t>
                </a:r>
                <a:r>
                  <a:rPr lang="ru-RU" dirty="0"/>
                  <a:t> синтетических изображений: </a:t>
                </a:r>
                <a:r>
                  <a:rPr lang="en-US" dirty="0"/>
                  <a:t>G(z)</a:t>
                </a:r>
              </a:p>
              <a:p>
                <a:pPr>
                  <a:buFont typeface="+mj-lt"/>
                  <a:buAutoNum type="arabicPeriod"/>
                  <a:defRPr sz="1800">
                    <a:latin typeface="Times New Roman"/>
                  </a:defRPr>
                </a:pPr>
                <a:r>
                  <a:rPr lang="ru-RU" dirty="0"/>
                  <a:t>Дискриминатор получает реальные изображения </a:t>
                </a:r>
                <a:r>
                  <a:rPr lang="en-US" dirty="0"/>
                  <a:t>x </a:t>
                </a:r>
                <a:r>
                  <a:rPr lang="ru-RU" dirty="0"/>
                  <a:t>и </a:t>
                </a:r>
                <a:r>
                  <a:rPr lang="en-US" dirty="0"/>
                  <a:t>G(z) </a:t>
                </a:r>
              </a:p>
              <a:p>
                <a:pPr>
                  <a:buFont typeface="+mj-lt"/>
                  <a:buAutoNum type="arabicPeriod"/>
                  <a:defRPr sz="1800">
                    <a:latin typeface="Times New Roman"/>
                  </a:defRPr>
                </a:pPr>
                <a:r>
                  <a:rPr lang="ru-RU" dirty="0" err="1"/>
                  <a:t>Вычисляются</a:t>
                </a:r>
                <a:r>
                  <a:rPr lang="ru-RU" dirty="0"/>
                  <a:t> </a:t>
                </a:r>
                <a:r>
                  <a:rPr lang="ru-RU" dirty="0" err="1"/>
                  <a:t>функции</a:t>
                </a:r>
                <a:r>
                  <a:rPr lang="ru-RU" dirty="0"/>
                  <a:t> </a:t>
                </a:r>
                <a:r>
                  <a:rPr lang="ru-RU" dirty="0" err="1"/>
                  <a:t>потерь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>
                  <a:buFont typeface="+mj-lt"/>
                  <a:buAutoNum type="arabicPeriod"/>
                  <a:defRPr sz="1800">
                    <a:latin typeface="Times New Roman"/>
                  </a:defRPr>
                </a:pPr>
                <a:r>
                  <a:rPr lang="ru-RU" dirty="0"/>
                  <a:t>Обновление весов </a:t>
                </a:r>
                <a:r>
                  <a:rPr lang="en-US" dirty="0"/>
                  <a:t>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/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</a:p>
              <a:p>
                <a:pPr>
                  <a:buFont typeface="+mj-lt"/>
                  <a:buAutoNum type="arabicPeriod"/>
                  <a:defRPr sz="1800">
                    <a:latin typeface="Times New Roman"/>
                  </a:defRPr>
                </a:pPr>
                <a:r>
                  <a:rPr lang="ru-RU" dirty="0" err="1"/>
                  <a:t>Обновление</a:t>
                </a:r>
                <a:r>
                  <a:rPr lang="ru-RU" dirty="0"/>
                  <a:t> </a:t>
                </a:r>
                <a:r>
                  <a:rPr lang="ru-RU" dirty="0" err="1"/>
                  <a:t>весов</a:t>
                </a:r>
                <a:r>
                  <a:rPr lang="ru-RU" dirty="0"/>
                  <a:t> </a:t>
                </a:r>
                <a:r>
                  <a:rPr lang="en-US" dirty="0"/>
                  <a:t>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buFont typeface="+mj-lt"/>
                  <a:buAutoNum type="arabicPeriod"/>
                  <a:defRPr sz="1800">
                    <a:latin typeface="Times New Roman"/>
                  </a:defRPr>
                </a:pPr>
                <a:r>
                  <a:rPr lang="ru-RU" dirty="0"/>
                  <a:t>Повторять до сходимости.</a:t>
                </a:r>
                <a:endParaRPr lang="vi-VN" dirty="0"/>
              </a:p>
              <a:p>
                <a:pPr marL="0" indent="0">
                  <a:buNone/>
                  <a:defRPr sz="1800">
                    <a:latin typeface="Times New Roman"/>
                  </a:defRPr>
                </a:pPr>
                <a:endParaRPr lang="vi-VN" dirty="0"/>
              </a:p>
              <a:p>
                <a:pPr marL="0" indent="0">
                  <a:buNone/>
                  <a:defRPr sz="1800">
                    <a:latin typeface="Times New Roman"/>
                  </a:defRPr>
                </a:pPr>
                <a:r>
                  <a:rPr lang="ru-RU" dirty="0"/>
                  <a:t>Пример пошагово (с числами):</a:t>
                </a:r>
                <a:endParaRPr lang="vi-VN" dirty="0"/>
              </a:p>
              <a:p>
                <a:pPr marL="400050" lvl="1" indent="0">
                  <a:buNone/>
                  <a:defRPr sz="1800">
                    <a:latin typeface="Times New Roman"/>
                  </a:defRPr>
                </a:pPr>
                <a:r>
                  <a:rPr lang="en-US" dirty="0" err="1"/>
                  <a:t>x_real</a:t>
                </a:r>
                <a:r>
                  <a:rPr lang="en-US" dirty="0"/>
                  <a:t> = 1, </a:t>
                </a:r>
                <a:r>
                  <a:rPr lang="en-US" dirty="0" err="1"/>
                  <a:t>x_fake</a:t>
                </a:r>
                <a:r>
                  <a:rPr lang="en-US" dirty="0"/>
                  <a:t> = 0.2</a:t>
                </a:r>
                <a:endParaRPr lang="vi-VN" dirty="0"/>
              </a:p>
              <a:p>
                <a:pPr marL="400050" lvl="1" indent="0">
                  <a:buNone/>
                  <a:defRPr sz="1800">
                    <a:latin typeface="Times New Roman"/>
                  </a:defRPr>
                </a:pPr>
                <a:r>
                  <a:rPr lang="ru-RU" dirty="0"/>
                  <a:t>D(</a:t>
                </a:r>
                <a:r>
                  <a:rPr lang="ru-RU" dirty="0" err="1"/>
                  <a:t>x_real</a:t>
                </a:r>
                <a:r>
                  <a:rPr lang="ru-RU" dirty="0"/>
                  <a:t>) = 0.9, D(</a:t>
                </a:r>
                <a:r>
                  <a:rPr lang="ru-RU" dirty="0" err="1"/>
                  <a:t>x_fake</a:t>
                </a:r>
                <a:r>
                  <a:rPr lang="ru-RU" dirty="0"/>
                  <a:t>) = 0.1</a:t>
                </a:r>
              </a:p>
              <a:p>
                <a:pPr marL="400050" lvl="1" indent="0">
                  <a:buNone/>
                  <a:defRPr sz="1800">
                    <a:latin typeface="Times New Roman"/>
                  </a:defRPr>
                </a:pPr>
                <a:r>
                  <a:rPr lang="ru-RU" dirty="0"/>
                  <a:t>L_D ≈ -</a:t>
                </a:r>
                <a:r>
                  <a:rPr lang="ru-RU" dirty="0" err="1"/>
                  <a:t>log</a:t>
                </a:r>
                <a:r>
                  <a:rPr lang="ru-RU" dirty="0"/>
                  <a:t>(0.9)</a:t>
                </a:r>
                <a:r>
                  <a:rPr lang="vi-VN" dirty="0"/>
                  <a:t> </a:t>
                </a:r>
                <a:r>
                  <a:rPr lang="ru-RU" dirty="0"/>
                  <a:t>-</a:t>
                </a:r>
                <a:r>
                  <a:rPr lang="ru-RU" dirty="0" err="1"/>
                  <a:t>log</a:t>
                </a:r>
                <a:r>
                  <a:rPr lang="ru-RU" dirty="0"/>
                  <a:t>(</a:t>
                </a:r>
                <a:r>
                  <a:rPr lang="vi-VN" dirty="0"/>
                  <a:t>1 - </a:t>
                </a:r>
                <a:r>
                  <a:rPr lang="ru-RU" dirty="0"/>
                  <a:t>0.</a:t>
                </a:r>
                <a:r>
                  <a:rPr lang="vi-VN" dirty="0"/>
                  <a:t>1</a:t>
                </a:r>
                <a:r>
                  <a:rPr lang="ru-RU" dirty="0"/>
                  <a:t>)</a:t>
                </a:r>
                <a:r>
                  <a:rPr lang="vi-VN" dirty="0"/>
                  <a:t> </a:t>
                </a:r>
                <a:r>
                  <a:rPr lang="ru-RU" dirty="0"/>
                  <a:t>=</a:t>
                </a:r>
                <a:r>
                  <a:rPr lang="vi-VN" dirty="0"/>
                  <a:t> </a:t>
                </a:r>
                <a:r>
                  <a:rPr lang="ru-RU" dirty="0"/>
                  <a:t>0.</a:t>
                </a:r>
                <a:r>
                  <a:rPr lang="vi-VN" dirty="0"/>
                  <a:t>210, </a:t>
                </a:r>
                <a:r>
                  <a:rPr lang="vi-VN" sz="1400" dirty="0"/>
                  <a:t>L_</a:t>
                </a:r>
                <a:r>
                  <a:rPr lang="en-US" sz="1400" dirty="0"/>
                  <a:t>G​</a:t>
                </a:r>
                <a:r>
                  <a:rPr lang="vi-VN" sz="1400" dirty="0"/>
                  <a:t> </a:t>
                </a:r>
                <a:r>
                  <a:rPr lang="en-US" sz="1400" dirty="0"/>
                  <a:t>=</a:t>
                </a:r>
                <a:r>
                  <a:rPr lang="vi-VN" sz="1400" dirty="0"/>
                  <a:t> </a:t>
                </a:r>
                <a:r>
                  <a:rPr lang="en-US" sz="1400" dirty="0"/>
                  <a:t>−log(0.1)=2.3026</a:t>
                </a:r>
                <a:endParaRPr lang="ru-RU" dirty="0"/>
              </a:p>
              <a:p>
                <a:pPr marL="400050" lvl="1" indent="0">
                  <a:buNone/>
                  <a:defRPr sz="1800">
                    <a:latin typeface="Times New Roman"/>
                  </a:defRPr>
                </a:pPr>
                <a:r>
                  <a:rPr lang="ru-RU" dirty="0"/>
                  <a:t>После обучения G улучшает </a:t>
                </a:r>
                <a:r>
                  <a:rPr lang="ru-RU" dirty="0" err="1"/>
                  <a:t>x_fake</a:t>
                </a:r>
                <a:r>
                  <a:rPr lang="ru-RU" dirty="0"/>
                  <a:t> ≈ 0.8, D(</a:t>
                </a:r>
                <a:r>
                  <a:rPr lang="ru-RU" dirty="0" err="1"/>
                  <a:t>x_fake</a:t>
                </a:r>
                <a:r>
                  <a:rPr lang="ru-RU" dirty="0"/>
                  <a:t>) ≈ 0.5.</a:t>
                </a:r>
                <a:br>
                  <a:rPr lang="ru-RU" dirty="0"/>
                </a:br>
                <a:r>
                  <a:rPr lang="ru-RU" dirty="0"/>
                  <a:t>→ Генератор учится создавать реалистичные данные.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2CA19A-CAD2-A601-795D-296AC9B7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024173" y="2638407"/>
            <a:ext cx="252426" cy="31885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D5A7A1-9E13-6F00-A8C9-664ED0F7A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024174" y="2957262"/>
            <a:ext cx="252425" cy="3188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/>
              <a:t>Проблемы</a:t>
            </a:r>
            <a:r>
              <a:rPr sz="3600" dirty="0"/>
              <a:t> </a:t>
            </a:r>
            <a:r>
              <a:rPr sz="3600" dirty="0" err="1"/>
              <a:t>классического</a:t>
            </a:r>
            <a:r>
              <a:rPr sz="3600" dirty="0"/>
              <a:t> 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lang="ru-RU" sz="1800" dirty="0"/>
              <a:t>Нестабильность обучения</a:t>
            </a:r>
            <a:endParaRPr lang="vi-VN" sz="1800" dirty="0"/>
          </a:p>
          <a:p>
            <a:pPr>
              <a:defRPr sz="1800">
                <a:latin typeface="Times New Roman"/>
              </a:defRPr>
            </a:pPr>
            <a:r>
              <a:rPr lang="ru-RU" sz="1800" dirty="0"/>
              <a:t>Исчезающий градиент (особенно при </a:t>
            </a:r>
            <a:r>
              <a:rPr lang="ru-RU" sz="1800" dirty="0" err="1"/>
              <a:t>сигмоиде</a:t>
            </a:r>
            <a:r>
              <a:rPr lang="ru-RU" sz="1800" dirty="0"/>
              <a:t> в D)</a:t>
            </a:r>
            <a:endParaRPr lang="vi-VN" sz="1800" dirty="0"/>
          </a:p>
          <a:p>
            <a:pPr>
              <a:defRPr sz="1800">
                <a:latin typeface="Times New Roman"/>
              </a:defRPr>
            </a:pPr>
            <a:r>
              <a:rPr lang="ru-RU" sz="1800" dirty="0"/>
              <a:t>Зависимость от </a:t>
            </a:r>
            <a:r>
              <a:rPr lang="ru-RU" sz="1800" dirty="0" err="1"/>
              <a:t>гиперпараметров</a:t>
            </a:r>
            <a:r>
              <a:rPr lang="ru-RU" sz="1800" dirty="0"/>
              <a:t> и архитектуры</a:t>
            </a:r>
            <a:endParaRPr lang="vi-VN" sz="1800" dirty="0"/>
          </a:p>
          <a:p>
            <a:pPr>
              <a:defRPr sz="1800">
                <a:latin typeface="Times New Roman"/>
              </a:defRPr>
            </a:pPr>
            <a:r>
              <a:rPr lang="ru-RU" sz="1800" dirty="0"/>
              <a:t>Необходимость тщательного выбора </a:t>
            </a:r>
            <a:r>
              <a:rPr lang="ru-RU" sz="1800" dirty="0" err="1"/>
              <a:t>learning</a:t>
            </a:r>
            <a:r>
              <a:rPr lang="ru-RU" sz="1800" dirty="0"/>
              <a:t> </a:t>
            </a:r>
            <a:r>
              <a:rPr lang="ru-RU" sz="1800" dirty="0" err="1"/>
              <a:t>rate</a:t>
            </a:r>
            <a:r>
              <a:rPr lang="ru-RU" sz="1800" dirty="0"/>
              <a:t> и </a:t>
            </a:r>
            <a:r>
              <a:rPr lang="ru-RU" sz="1800" dirty="0" err="1"/>
              <a:t>batch</a:t>
            </a:r>
            <a:r>
              <a:rPr lang="ru-RU" sz="1800" dirty="0"/>
              <a:t> </a:t>
            </a:r>
            <a:r>
              <a:rPr lang="ru-RU" sz="1800" dirty="0" err="1"/>
              <a:t>size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Wasserstein 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lang="ru-RU" sz="1800" dirty="0"/>
              <a:t>WGAN использует </a:t>
            </a:r>
            <a:r>
              <a:rPr lang="ru-RU" sz="1800" dirty="0" err="1"/>
              <a:t>Wasserstein</a:t>
            </a:r>
            <a:r>
              <a:rPr lang="ru-RU" sz="1800" dirty="0"/>
              <a:t> </a:t>
            </a:r>
            <a:r>
              <a:rPr lang="ru-RU" sz="1800" dirty="0" err="1"/>
              <a:t>distance</a:t>
            </a:r>
            <a:r>
              <a:rPr lang="ru-RU" sz="1800" dirty="0"/>
              <a:t> вместо логарифмической функции потерь </a:t>
            </a:r>
            <a:endParaRPr lang="vi-VN" sz="1800" dirty="0"/>
          </a:p>
          <a:p>
            <a:pPr>
              <a:defRPr sz="1800">
                <a:latin typeface="Times New Roman"/>
              </a:defRPr>
            </a:pPr>
            <a:r>
              <a:rPr lang="ru-RU" sz="1800" dirty="0"/>
              <a:t>Критик (</a:t>
            </a:r>
            <a:r>
              <a:rPr lang="ru-RU" sz="1800" dirty="0" err="1"/>
              <a:t>Critic</a:t>
            </a:r>
            <a:r>
              <a:rPr lang="ru-RU" sz="1800" dirty="0"/>
              <a:t>) оценивает реальность изображения: D(x) ∈ ℝ, без </a:t>
            </a:r>
            <a:r>
              <a:rPr lang="ru-RU" sz="1800" dirty="0" err="1"/>
              <a:t>сигмоиды</a:t>
            </a:r>
            <a:endParaRPr lang="vi-VN" sz="1800" dirty="0"/>
          </a:p>
          <a:p>
            <a:pPr>
              <a:defRPr sz="1800">
                <a:latin typeface="Times New Roman"/>
              </a:defRPr>
            </a:pPr>
            <a:r>
              <a:rPr lang="ru-RU" sz="1800" dirty="0"/>
              <a:t>Обеспечивает стабильное обучение и уменьшает артефакты</a:t>
            </a:r>
          </a:p>
          <a:p>
            <a:pPr>
              <a:defRPr sz="1800">
                <a:latin typeface="Times New Roman"/>
              </a:defRPr>
            </a:pPr>
            <a:endParaRPr lang="vi-VN" sz="1800" dirty="0"/>
          </a:p>
          <a:p>
            <a:pPr>
              <a:defRPr sz="1800">
                <a:latin typeface="Times New Roman"/>
              </a:defRPr>
            </a:pP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01A6ED-3D53-E6BE-6905-CDE7EED88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2" y="3134953"/>
            <a:ext cx="7394715" cy="21228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latin typeface="Times New Roman"/>
              </a:rPr>
              <a:t>Функция</a:t>
            </a:r>
            <a:r>
              <a:rPr sz="3600" dirty="0">
                <a:latin typeface="Times New Roman"/>
              </a:rPr>
              <a:t> </a:t>
            </a:r>
            <a:r>
              <a:rPr sz="3600" dirty="0" err="1">
                <a:latin typeface="Times New Roman"/>
              </a:rPr>
              <a:t>потерь</a:t>
            </a:r>
            <a:r>
              <a:rPr sz="3600" dirty="0">
                <a:latin typeface="Times New Roman"/>
              </a:rPr>
              <a:t> WGAN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49690-1E18-8CB3-D09C-4232729E7926}"/>
              </a:ext>
            </a:extLst>
          </p:cNvPr>
          <p:cNvSpPr txBox="1"/>
          <p:nvPr/>
        </p:nvSpPr>
        <p:spPr>
          <a:xfrm>
            <a:off x="790575" y="140442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 err="1"/>
              <a:t>Wasserstein</a:t>
            </a:r>
            <a:r>
              <a:rPr lang="ru-RU" sz="1800" dirty="0"/>
              <a:t> </a:t>
            </a:r>
            <a:r>
              <a:rPr lang="vi-VN" sz="1800" dirty="0"/>
              <a:t>distance:</a:t>
            </a:r>
            <a:r>
              <a:rPr lang="ru-RU" sz="1800" dirty="0"/>
              <a:t> 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BB65DF-65D9-5287-DB44-F39C9701A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524" y="1773754"/>
            <a:ext cx="3410426" cy="552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A7A3F8-4B2F-0DAD-9232-D9EFF28D04AB}"/>
              </a:ext>
            </a:extLst>
          </p:cNvPr>
          <p:cNvSpPr txBox="1"/>
          <p:nvPr/>
        </p:nvSpPr>
        <p:spPr>
          <a:xfrm>
            <a:off x="790575" y="2326281"/>
            <a:ext cx="71913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Критик</a:t>
            </a:r>
            <a:r>
              <a:rPr lang="en-US" dirty="0"/>
              <a:t> </a:t>
            </a:r>
            <a:r>
              <a:rPr lang="en-US" dirty="0" err="1"/>
              <a:t>старается</a:t>
            </a:r>
            <a:r>
              <a:rPr lang="en-US" dirty="0"/>
              <a:t> </a:t>
            </a:r>
            <a:r>
              <a:rPr lang="en-US" dirty="0" err="1"/>
              <a:t>максимизировать</a:t>
            </a:r>
            <a:r>
              <a:rPr lang="en-US" dirty="0"/>
              <a:t> L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Генератор старается минимизировать </a:t>
            </a:r>
            <a:r>
              <a:rPr lang="en-US" dirty="0"/>
              <a:t>L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Обучение стабилизировано за счет непрерывного градиента</a:t>
            </a:r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15E4943-B620-6100-67F6-280E51CA4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61" y="3543301"/>
            <a:ext cx="5744377" cy="1086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Times New Roman"/>
              </a:rPr>
              <a:t>Gradient Penalty (</a:t>
            </a:r>
            <a:r>
              <a:rPr lang="vi-VN" sz="3600" dirty="0">
                <a:latin typeface="Times New Roman"/>
              </a:rPr>
              <a:t>k</a:t>
            </a:r>
            <a:r>
              <a:rPr sz="3600" dirty="0">
                <a:latin typeface="Times New Roman"/>
              </a:rPr>
              <a:t>-Lipschitz)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BEEDA-E040-888B-E0D2-42790AE6670C}"/>
              </a:ext>
            </a:extLst>
          </p:cNvPr>
          <p:cNvSpPr txBox="1"/>
          <p:nvPr/>
        </p:nvSpPr>
        <p:spPr>
          <a:xfrm>
            <a:off x="666749" y="1394897"/>
            <a:ext cx="7572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WGAN </a:t>
            </a:r>
            <a:r>
              <a:rPr lang="en-US" dirty="0" err="1"/>
              <a:t>требует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критик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vi-VN" dirty="0"/>
              <a:t>1</a:t>
            </a:r>
            <a:r>
              <a:rPr lang="en-US" dirty="0"/>
              <a:t>-Lipschitz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Используется </a:t>
            </a:r>
            <a:r>
              <a:rPr lang="en-US" dirty="0"/>
              <a:t>Gradient Penalty (GP):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CAF8B7-1C71-644C-BFBB-1F7EA40EC214}"/>
                  </a:ext>
                </a:extLst>
              </p:cNvPr>
              <p:cNvSpPr txBox="1"/>
              <p:nvPr/>
            </p:nvSpPr>
            <p:spPr>
              <a:xfrm>
                <a:off x="666750" y="2537897"/>
                <a:ext cx="8296276" cy="956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vi-VN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 err="1"/>
                  <a:t>линейная</a:t>
                </a:r>
                <a:r>
                  <a:rPr lang="en-US" dirty="0"/>
                  <a:t> </a:t>
                </a:r>
                <a:r>
                  <a:rPr lang="en-US" dirty="0" err="1"/>
                  <a:t>интерполяция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реальными</a:t>
                </a:r>
                <a:r>
                  <a:rPr lang="en-US" dirty="0"/>
                  <a:t> и </a:t>
                </a:r>
                <a:r>
                  <a:rPr lang="en-US" dirty="0" err="1"/>
                  <a:t>синтетическими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изображениями</a:t>
                </a:r>
                <a:endParaRPr lang="vi-V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dirty="0"/>
                  <a:t>λ</a:t>
                </a:r>
                <a:r>
                  <a:rPr lang="vi-VN" dirty="0"/>
                  <a:t> - </a:t>
                </a:r>
                <a:r>
                  <a:rPr lang="ru-RU" dirty="0"/>
                  <a:t>коэффициент штрафа, обычно 10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CAF8B7-1C71-644C-BFBB-1F7EA40EC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2537897"/>
                <a:ext cx="8296276" cy="956480"/>
              </a:xfrm>
              <a:prstGeom prst="rect">
                <a:avLst/>
              </a:prstGeom>
              <a:blipFill>
                <a:blip r:embed="rId2"/>
                <a:stretch>
                  <a:fillRect l="-441" t="-3185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380110-1199-59FD-BE47-30BCDC4F8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330" y="2004525"/>
            <a:ext cx="3686689" cy="51442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4F612E-D352-32C9-E1E0-9886A1725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828" y="3628383"/>
            <a:ext cx="5858693" cy="2381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/>
              <a:t>Эксперимент</a:t>
            </a:r>
            <a:r>
              <a:rPr lang="vi-VN" sz="3600" dirty="0"/>
              <a:t>: </a:t>
            </a:r>
            <a:r>
              <a:rPr lang="ru-RU" sz="3600" dirty="0"/>
              <a:t>генерация лиц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6356"/>
            <a:ext cx="5076825" cy="4525963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latin typeface="Times New Roman"/>
              </a:defRPr>
            </a:pPr>
            <a:r>
              <a:rPr lang="ru-RU" dirty="0"/>
              <a:t>Датасет: </a:t>
            </a:r>
            <a:r>
              <a:rPr lang="en-US" dirty="0"/>
              <a:t>Face-Mask-Lite (≈9090 </a:t>
            </a:r>
            <a:r>
              <a:rPr lang="ru-RU" dirty="0"/>
              <a:t>изображений, 128×128)</a:t>
            </a:r>
            <a:endParaRPr lang="vi-VN" dirty="0"/>
          </a:p>
          <a:p>
            <a:pPr>
              <a:buFont typeface="+mj-lt"/>
              <a:buAutoNum type="arabicPeriod"/>
              <a:defRPr sz="1800">
                <a:latin typeface="Times New Roman"/>
              </a:defRPr>
            </a:pPr>
            <a:r>
              <a:rPr lang="vi-VN" dirty="0"/>
              <a:t>GAN </a:t>
            </a:r>
            <a:r>
              <a:rPr lang="ru-RU" dirty="0"/>
              <a:t>классический</a:t>
            </a:r>
            <a:endParaRPr lang="vi-VN" dirty="0"/>
          </a:p>
          <a:p>
            <a:pPr>
              <a:defRPr sz="1800">
                <a:latin typeface="Times New Roman"/>
              </a:defRPr>
            </a:pPr>
            <a:r>
              <a:rPr lang="ru-RU" dirty="0"/>
              <a:t>Оптимизация: </a:t>
            </a:r>
            <a:r>
              <a:rPr lang="en-US" dirty="0" err="1"/>
              <a:t>RMSProp</a:t>
            </a:r>
            <a:r>
              <a:rPr lang="en-US" dirty="0"/>
              <a:t>, </a:t>
            </a:r>
            <a:r>
              <a:rPr lang="en-US" dirty="0" err="1"/>
              <a:t>lr</a:t>
            </a:r>
            <a:r>
              <a:rPr lang="en-US" dirty="0"/>
              <a:t>=0.0001, </a:t>
            </a:r>
            <a:r>
              <a:rPr lang="en-US" dirty="0" err="1"/>
              <a:t>BinaryCrossentropy</a:t>
            </a:r>
            <a:endParaRPr lang="vi-VN" dirty="0"/>
          </a:p>
          <a:p>
            <a:pPr>
              <a:defRPr sz="1800">
                <a:latin typeface="Times New Roman"/>
              </a:defRPr>
            </a:pPr>
            <a:r>
              <a:rPr lang="vi-VN" dirty="0"/>
              <a:t>Loss:</a:t>
            </a:r>
          </a:p>
          <a:p>
            <a:pPr lvl="1">
              <a:buFont typeface="Symbol" panose="05050102010706020507" pitchFamily="18" charset="2"/>
              <a:buChar char=""/>
              <a:defRPr sz="1800">
                <a:latin typeface="Times New Roman"/>
              </a:defRPr>
            </a:pPr>
            <a:r>
              <a:rPr lang="vi-VN" dirty="0"/>
              <a:t>Generator Loss ≈ 0.58</a:t>
            </a:r>
          </a:p>
          <a:p>
            <a:pPr lvl="1">
              <a:buFont typeface="Symbol" panose="05050102010706020507" pitchFamily="18" charset="2"/>
              <a:buChar char=""/>
              <a:defRPr sz="1800">
                <a:latin typeface="Times New Roman"/>
              </a:defRPr>
            </a:pPr>
            <a:r>
              <a:rPr lang="vi-VN" dirty="0"/>
              <a:t>Discriminator Loss ≈ 0.97</a:t>
            </a:r>
          </a:p>
          <a:p>
            <a:pPr>
              <a:buFont typeface="+mj-lt"/>
              <a:buAutoNum type="arabicPeriod" startAt="2"/>
              <a:defRPr sz="1800">
                <a:latin typeface="Times New Roman"/>
              </a:defRPr>
            </a:pPr>
            <a:r>
              <a:rPr lang="vi-VN" dirty="0"/>
              <a:t>WGAN</a:t>
            </a:r>
          </a:p>
          <a:p>
            <a:pPr>
              <a:defRPr sz="1800">
                <a:latin typeface="Times New Roman"/>
              </a:defRPr>
            </a:pPr>
            <a:r>
              <a:rPr lang="ru-RU" dirty="0"/>
              <a:t>Оптимизация:</a:t>
            </a:r>
            <a:r>
              <a:rPr lang="vi-VN" dirty="0"/>
              <a:t> </a:t>
            </a:r>
            <a:r>
              <a:rPr lang="en-US" dirty="0" err="1"/>
              <a:t>RMSProp</a:t>
            </a:r>
            <a:r>
              <a:rPr lang="en-US" dirty="0"/>
              <a:t>, </a:t>
            </a:r>
            <a:r>
              <a:rPr lang="en-US" dirty="0" err="1"/>
              <a:t>lr</a:t>
            </a:r>
            <a:r>
              <a:rPr lang="en-US" dirty="0"/>
              <a:t>=5e-5, </a:t>
            </a:r>
            <a:r>
              <a:rPr lang="en-US" dirty="0" err="1"/>
              <a:t>n_critic</a:t>
            </a:r>
            <a:r>
              <a:rPr lang="en-US" dirty="0"/>
              <a:t> = 5</a:t>
            </a:r>
            <a:endParaRPr lang="vi-VN" dirty="0"/>
          </a:p>
          <a:p>
            <a:pPr>
              <a:defRPr sz="1800">
                <a:latin typeface="Times New Roman"/>
              </a:defRPr>
            </a:pPr>
            <a:r>
              <a:rPr lang="en-US" dirty="0"/>
              <a:t>Loss:</a:t>
            </a:r>
            <a:endParaRPr lang="vi-VN" dirty="0"/>
          </a:p>
          <a:p>
            <a:pPr lvl="1">
              <a:buFont typeface="Symbol" panose="05050102010706020507" pitchFamily="18" charset="2"/>
              <a:buChar char="-"/>
              <a:defRPr sz="1800">
                <a:latin typeface="Times New Roman"/>
              </a:defRPr>
            </a:pPr>
            <a:r>
              <a:rPr lang="en-US" dirty="0"/>
              <a:t>Critic Loss ≈ -25.18</a:t>
            </a:r>
          </a:p>
          <a:p>
            <a:pPr lvl="1">
              <a:buFont typeface="Symbol" panose="05050102010706020507" pitchFamily="18" charset="2"/>
              <a:buChar char="-"/>
              <a:defRPr sz="1800">
                <a:latin typeface="Times New Roman"/>
              </a:defRPr>
            </a:pPr>
            <a:r>
              <a:rPr lang="en-US" dirty="0"/>
              <a:t>Generator Loss ≈ -138.41</a:t>
            </a:r>
            <a:endParaRPr lang="vi-VN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6A6569-7BF9-ABC6-D6E8-1AD26A30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0" y="3920141"/>
            <a:ext cx="2341787" cy="23012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EB14A8-92C8-6090-BF3E-24C5F798C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0" y="1518253"/>
            <a:ext cx="2313405" cy="23012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 err="1"/>
              <a:t>Выводы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lang="ru-RU" dirty="0"/>
              <a:t>GAN изучает распределение данных и способен создавать новые изображения</a:t>
            </a:r>
            <a:endParaRPr lang="vi-VN" dirty="0"/>
          </a:p>
          <a:p>
            <a:pPr>
              <a:defRPr sz="1800">
                <a:latin typeface="Times New Roman"/>
              </a:defRPr>
            </a:pPr>
            <a:r>
              <a:rPr lang="ru-RU" dirty="0"/>
              <a:t>WGAN стабилизирует обучение, уменьшает артефакты, корректно учитывает градиенты</a:t>
            </a:r>
            <a:endParaRPr lang="vi-VN" dirty="0"/>
          </a:p>
          <a:p>
            <a:pPr>
              <a:defRPr sz="1800">
                <a:latin typeface="Times New Roman"/>
              </a:defRPr>
            </a:pPr>
            <a:r>
              <a:rPr lang="ru-RU" dirty="0"/>
              <a:t>Технология имеет как полезное, так и потенциально опасное применение</a:t>
            </a:r>
            <a:endParaRPr lang="vi-VN" dirty="0"/>
          </a:p>
          <a:p>
            <a:pPr marL="0" indent="0">
              <a:buNone/>
              <a:defRPr sz="1800">
                <a:latin typeface="Times New Roman"/>
              </a:defRPr>
            </a:pPr>
            <a:r>
              <a:rPr lang="vi-VN" dirty="0"/>
              <a:t>	</a:t>
            </a:r>
          </a:p>
          <a:p>
            <a:pPr marL="0" indent="0">
              <a:buNone/>
              <a:defRPr sz="1800">
                <a:latin typeface="Times New Roman"/>
              </a:defRPr>
            </a:pP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08C34-948A-5EEF-6000-BEF00008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Источники</a:t>
            </a:r>
            <a:endParaRPr lang="en-US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9D9CFF-C63A-0620-356A-365491DE0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800" dirty="0"/>
              <a:t>Goodfellow et al., 2014, </a:t>
            </a:r>
            <a:r>
              <a:rPr lang="en-US" sz="1800" i="1" dirty="0"/>
              <a:t>Generative Adversarial Nets</a:t>
            </a:r>
            <a:endParaRPr lang="vi-VN" sz="1800" i="1" dirty="0"/>
          </a:p>
          <a:p>
            <a:pPr>
              <a:buFont typeface="+mj-lt"/>
              <a:buAutoNum type="arabicPeriod"/>
            </a:pPr>
            <a:r>
              <a:rPr lang="en-US" sz="1800" dirty="0" err="1"/>
              <a:t>Arjovsky</a:t>
            </a:r>
            <a:r>
              <a:rPr lang="en-US" sz="1800" dirty="0"/>
              <a:t> et al., 2017, </a:t>
            </a:r>
            <a:r>
              <a:rPr lang="en-US" sz="1800" i="1" dirty="0"/>
              <a:t>Wasserstein GAN</a:t>
            </a:r>
            <a:endParaRPr lang="vi-VN" sz="1800" i="1" dirty="0"/>
          </a:p>
          <a:p>
            <a:pPr>
              <a:buFont typeface="+mj-lt"/>
              <a:buAutoNum type="arabicPeriod"/>
            </a:pPr>
            <a:r>
              <a:rPr lang="en-US" sz="1800" dirty="0"/>
              <a:t>François Chollet, Deep Learning with Python, 2021</a:t>
            </a:r>
          </a:p>
        </p:txBody>
      </p:sp>
    </p:spTree>
    <p:extLst>
      <p:ext uri="{BB962C8B-B14F-4D97-AF65-F5344CB8AC3E}">
        <p14:creationId xmlns:p14="http://schemas.microsoft.com/office/powerpoint/2010/main" val="1802656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738</Words>
  <Application>Microsoft Office PowerPoint</Application>
  <PresentationFormat>Экран (4:3)</PresentationFormat>
  <Paragraphs>90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Bebas Neue Bold</vt:lpstr>
      <vt:lpstr>Calibri (Основной текст)</vt:lpstr>
      <vt:lpstr>Arial</vt:lpstr>
      <vt:lpstr>Calibri</vt:lpstr>
      <vt:lpstr>Cambria Math</vt:lpstr>
      <vt:lpstr>Courier New</vt:lpstr>
      <vt:lpstr>Symbol</vt:lpstr>
      <vt:lpstr>Times New Roman</vt:lpstr>
      <vt:lpstr>Office Theme</vt:lpstr>
      <vt:lpstr>GAN и  их модификация Wasserstein GAN </vt:lpstr>
      <vt:lpstr>Введение</vt:lpstr>
      <vt:lpstr>Идея GAN</vt:lpstr>
      <vt:lpstr>Архитектура GAN</vt:lpstr>
      <vt:lpstr>Математическая модель GAN</vt:lpstr>
      <vt:lpstr>Функции потерь</vt:lpstr>
      <vt:lpstr>Алгоритм обучения GAN</vt:lpstr>
      <vt:lpstr>Проблемы классического GAN</vt:lpstr>
      <vt:lpstr>Wasserstein GAN</vt:lpstr>
      <vt:lpstr>Функция потерь WGAN</vt:lpstr>
      <vt:lpstr>Gradient Penalty (k-Lipschitz)</vt:lpstr>
      <vt:lpstr>Эксперимент: генерация лиц</vt:lpstr>
      <vt:lpstr>Выводы</vt:lpstr>
      <vt:lpstr>Источники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Hoài Trịnh</cp:lastModifiedBy>
  <cp:revision>3</cp:revision>
  <dcterms:created xsi:type="dcterms:W3CDTF">2013-01-27T09:14:16Z</dcterms:created>
  <dcterms:modified xsi:type="dcterms:W3CDTF">2025-11-15T19:20:27Z</dcterms:modified>
  <cp:category/>
</cp:coreProperties>
</file>